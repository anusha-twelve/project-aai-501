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48" r:id="rId5"/>
    <p:sldId id="264" r:id="rId6"/>
    <p:sldId id="346" r:id="rId7"/>
    <p:sldId id="343" r:id="rId8"/>
    <p:sldId id="344" r:id="rId9"/>
    <p:sldId id="345" r:id="rId10"/>
    <p:sldId id="349" r:id="rId11"/>
    <p:sldId id="352" r:id="rId12"/>
    <p:sldId id="353" r:id="rId13"/>
    <p:sldId id="355" r:id="rId14"/>
    <p:sldId id="351" r:id="rId15"/>
    <p:sldId id="361" r:id="rId16"/>
    <p:sldId id="360" r:id="rId17"/>
    <p:sldId id="359" r:id="rId18"/>
    <p:sldId id="358" r:id="rId19"/>
    <p:sldId id="267" r:id="rId20"/>
    <p:sldId id="357" r:id="rId21"/>
    <p:sldId id="266" r:id="rId22"/>
    <p:sldId id="341" r:id="rId23"/>
    <p:sldId id="356" r:id="rId24"/>
    <p:sldId id="34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5E3AEE-D1EE-7AC6-B0B3-706B194944F8}" v="247" dt="2025-04-14T02:33:17.388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40" autoAdjust="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eswa.2015.02.009" TargetMode="Externa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A360A-947C-BB6F-8E29-9E521F3A4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326" y="1785659"/>
            <a:ext cx="9601200" cy="914400"/>
          </a:xfrm>
        </p:spPr>
        <p:txBody>
          <a:bodyPr/>
          <a:lstStyle/>
          <a:p>
            <a:pPr algn="ctr"/>
            <a:r>
              <a:rPr lang="en-US" dirty="0">
                <a:latin typeface="Arial"/>
                <a:cs typeface="Arial"/>
              </a:rPr>
              <a:t>Smart Parking: </a:t>
            </a:r>
            <a:br>
              <a:rPr lang="en-US" dirty="0">
                <a:latin typeface="Arial"/>
                <a:cs typeface="Arial"/>
              </a:rPr>
            </a:br>
            <a:r>
              <a:rPr lang="en-US" sz="2000" dirty="0">
                <a:latin typeface="Arial"/>
                <a:cs typeface="Arial"/>
              </a:rPr>
              <a:t>Parking Space Detection Using Computer Vision</a:t>
            </a:r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274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model&#10;&#10;AI-generated content may be incorrect.">
            <a:extLst>
              <a:ext uri="{FF2B5EF4-FFF2-40B4-BE49-F238E27FC236}">
                <a16:creationId xmlns:a16="http://schemas.microsoft.com/office/drawing/2014/main" id="{846FC795-96E7-737C-9E35-17DA9772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410" y="542287"/>
            <a:ext cx="10602801" cy="559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F9CE1-43A9-E72D-A5AF-068756FBD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21B18-3D5F-F688-7385-9530FB614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>
                <a:latin typeface="Arial"/>
                <a:ea typeface="+mj-lt"/>
                <a:cs typeface="+mj-lt"/>
              </a:rPr>
              <a:t>Problem Identification</a:t>
            </a:r>
            <a:endParaRPr lang="en-US" dirty="0"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470A21-0E49-E400-EFE7-06AE6CFD1F24}"/>
              </a:ext>
            </a:extLst>
          </p:cNvPr>
          <p:cNvSpPr txBox="1"/>
          <p:nvPr/>
        </p:nvSpPr>
        <p:spPr>
          <a:xfrm>
            <a:off x="1280160" y="2011680"/>
            <a:ext cx="9821955" cy="46115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Urban parking scarcity is a major issue in densely populated cities.</a:t>
            </a:r>
            <a:endParaRPr lang="en-US" dirty="0">
              <a:latin typeface="Arial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U.S. drivers spend </a:t>
            </a:r>
            <a:r>
              <a:rPr lang="en-US" b="1" dirty="0">
                <a:latin typeface="Arial"/>
                <a:ea typeface="+mn-lt"/>
                <a:cs typeface="+mn-lt"/>
              </a:rPr>
              <a:t>17 hours/year</a:t>
            </a:r>
            <a:r>
              <a:rPr lang="en-US" dirty="0">
                <a:latin typeface="Arial"/>
                <a:ea typeface="+mn-lt"/>
                <a:cs typeface="+mn-lt"/>
              </a:rPr>
              <a:t> searching for parking, costing </a:t>
            </a:r>
            <a:r>
              <a:rPr lang="en-US" b="1" dirty="0">
                <a:latin typeface="Arial"/>
                <a:ea typeface="+mn-lt"/>
                <a:cs typeface="+mn-lt"/>
              </a:rPr>
              <a:t>$73 billion annually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Cruising for parking" accounts for </a:t>
            </a:r>
            <a:r>
              <a:rPr lang="en-US" b="1" dirty="0">
                <a:latin typeface="Arial"/>
                <a:ea typeface="+mn-lt"/>
                <a:cs typeface="+mn-lt"/>
              </a:rPr>
              <a:t>up to 30% of urban traffic congestion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Prolonged idling and circling cause </a:t>
            </a:r>
            <a:r>
              <a:rPr lang="en-US" b="1" dirty="0">
                <a:latin typeface="Arial"/>
                <a:ea typeface="+mn-lt"/>
                <a:cs typeface="+mn-lt"/>
              </a:rPr>
              <a:t>increased emissions and air pollution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  <a:endParaRPr lang="en-US" dirty="0">
              <a:latin typeface="Arial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High parking demand impacts </a:t>
            </a:r>
            <a:r>
              <a:rPr lang="en-US" b="1" dirty="0">
                <a:latin typeface="Arial"/>
                <a:ea typeface="+mn-lt"/>
                <a:cs typeface="+mn-lt"/>
              </a:rPr>
              <a:t>urban planning</a:t>
            </a:r>
            <a:r>
              <a:rPr lang="en-US" dirty="0">
                <a:latin typeface="Arial"/>
                <a:ea typeface="+mn-lt"/>
                <a:cs typeface="+mn-lt"/>
              </a:rPr>
              <a:t> — e.g., monthly parking in NYC exceeds </a:t>
            </a:r>
            <a:r>
              <a:rPr lang="en-US" b="1" dirty="0">
                <a:latin typeface="Arial"/>
                <a:ea typeface="+mn-lt"/>
                <a:cs typeface="+mn-lt"/>
              </a:rPr>
              <a:t>$700</a:t>
            </a:r>
            <a:r>
              <a:rPr lang="en-US" dirty="0">
                <a:latin typeface="Arial"/>
                <a:ea typeface="+mn-lt"/>
                <a:cs typeface="+mn-lt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Need for </a:t>
            </a:r>
            <a:r>
              <a:rPr lang="en-US" b="1" dirty="0">
                <a:latin typeface="Arial"/>
                <a:ea typeface="+mn-lt"/>
                <a:cs typeface="+mn-lt"/>
              </a:rPr>
              <a:t>intelligent parking systems</a:t>
            </a:r>
            <a:r>
              <a:rPr lang="en-US" dirty="0">
                <a:latin typeface="Arial"/>
                <a:ea typeface="+mn-lt"/>
                <a:cs typeface="+mn-lt"/>
              </a:rPr>
              <a:t> to:</a:t>
            </a:r>
            <a:endParaRPr lang="en-US" dirty="0">
              <a:latin typeface="Arial"/>
              <a:cs typeface="Arial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Optimize space usage</a:t>
            </a:r>
            <a:endParaRPr lang="en-US" dirty="0">
              <a:latin typeface="Arial"/>
              <a:cs typeface="Arial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Reduce environmental impact</a:t>
            </a:r>
            <a:endParaRPr lang="en-US" dirty="0">
              <a:latin typeface="Arial"/>
              <a:cs typeface="Arial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Improve urban transport efficiency</a:t>
            </a:r>
            <a:endParaRPr lang="en-US" dirty="0">
              <a:latin typeface="Arial"/>
              <a:cs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/>
            </a:endParaRPr>
          </a:p>
        </p:txBody>
      </p:sp>
      <p:pic>
        <p:nvPicPr>
          <p:cNvPr id="3" name="Picture 2" descr="A blue circles with black text&#10;&#10;AI-generated content may be incorrect.">
            <a:extLst>
              <a:ext uri="{FF2B5EF4-FFF2-40B4-BE49-F238E27FC236}">
                <a16:creationId xmlns:a16="http://schemas.microsoft.com/office/drawing/2014/main" id="{9C8EC0C9-9D52-0E19-5015-9EA6D1C59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13" y="4447906"/>
            <a:ext cx="2494291" cy="217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458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228AE-2816-C888-D3A0-91EA3B3FE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78695-7BC2-9477-2A7C-017EE2FAB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>
                <a:ea typeface="+mj-lt"/>
                <a:cs typeface="+mj-lt"/>
              </a:rPr>
              <a:t>Translating the Problem into a Data Science Challenge</a:t>
            </a:r>
            <a:endParaRPr lang="en-US" dirty="0">
              <a:latin typeface="Arial"/>
              <a:ea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2871F5-BC97-43C3-E833-7220244CDC62}"/>
              </a:ext>
            </a:extLst>
          </p:cNvPr>
          <p:cNvSpPr txBox="1"/>
          <p:nvPr/>
        </p:nvSpPr>
        <p:spPr>
          <a:xfrm>
            <a:off x="1280160" y="2335170"/>
            <a:ext cx="9821955" cy="40575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Parking detection = a </a:t>
            </a:r>
            <a:r>
              <a:rPr lang="en-US" b="1" dirty="0">
                <a:latin typeface="Arial"/>
                <a:ea typeface="+mn-lt"/>
                <a:cs typeface="+mn-lt"/>
              </a:rPr>
              <a:t>computer vision (CV)</a:t>
            </a:r>
            <a:r>
              <a:rPr lang="en-US" dirty="0">
                <a:latin typeface="Arial"/>
                <a:ea typeface="+mn-lt"/>
                <a:cs typeface="+mn-lt"/>
              </a:rPr>
              <a:t> problem.</a:t>
            </a:r>
            <a:endParaRPr lang="en-US" dirty="0">
              <a:latin typeface="Arial"/>
              <a:ea typeface="+mn-lt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Core task: </a:t>
            </a:r>
            <a:r>
              <a:rPr lang="en-US" b="1" dirty="0">
                <a:latin typeface="Arial"/>
                <a:ea typeface="+mn-lt"/>
                <a:cs typeface="+mn-lt"/>
              </a:rPr>
              <a:t>Binary classification</a:t>
            </a:r>
            <a:r>
              <a:rPr lang="en-US" dirty="0">
                <a:latin typeface="Arial"/>
                <a:ea typeface="+mn-lt"/>
                <a:cs typeface="+mn-lt"/>
              </a:rPr>
              <a:t> — Is a parking slot </a:t>
            </a:r>
            <a:r>
              <a:rPr lang="en-US" i="1" dirty="0">
                <a:latin typeface="Arial"/>
                <a:ea typeface="+mn-lt"/>
                <a:cs typeface="+mn-lt"/>
              </a:rPr>
              <a:t>occupied</a:t>
            </a:r>
            <a:r>
              <a:rPr lang="en-US" dirty="0">
                <a:latin typeface="Arial"/>
                <a:ea typeface="+mn-lt"/>
                <a:cs typeface="+mn-lt"/>
              </a:rPr>
              <a:t> or </a:t>
            </a:r>
            <a:r>
              <a:rPr lang="en-US" i="1" dirty="0">
                <a:latin typeface="Arial"/>
                <a:ea typeface="+mn-lt"/>
                <a:cs typeface="+mn-lt"/>
              </a:rPr>
              <a:t>vacant</a:t>
            </a:r>
            <a:r>
              <a:rPr lang="en-US" dirty="0">
                <a:latin typeface="Arial"/>
                <a:ea typeface="+mn-lt"/>
                <a:cs typeface="+mn-lt"/>
              </a:rPr>
              <a:t>?</a:t>
            </a:r>
            <a:endParaRPr lang="en-US" dirty="0">
              <a:latin typeface="Arial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CV techniques involved:</a:t>
            </a:r>
            <a:endParaRPr lang="en-US" dirty="0">
              <a:latin typeface="Arial"/>
              <a:cs typeface="Arial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>
                <a:latin typeface="Arial"/>
                <a:ea typeface="+mn-lt"/>
                <a:cs typeface="+mn-lt"/>
              </a:rPr>
              <a:t> Image Classification</a:t>
            </a:r>
            <a:r>
              <a:rPr lang="en-US" dirty="0">
                <a:latin typeface="Arial"/>
                <a:ea typeface="+mn-lt"/>
                <a:cs typeface="+mn-lt"/>
              </a:rPr>
              <a:t> for static frames</a:t>
            </a:r>
            <a:endParaRPr lang="en-US">
              <a:latin typeface="Arial"/>
              <a:ea typeface="+mn-lt"/>
              <a:cs typeface="Arial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Arial"/>
                <a:ea typeface="+mn-lt"/>
                <a:cs typeface="+mn-lt"/>
              </a:rPr>
              <a:t> Object Detection</a:t>
            </a:r>
            <a:r>
              <a:rPr lang="en-US" dirty="0">
                <a:latin typeface="Arial"/>
                <a:ea typeface="+mn-lt"/>
                <a:cs typeface="+mn-lt"/>
              </a:rPr>
              <a:t> (e.g., YOLO) for more dynamic scenarios </a:t>
            </a:r>
            <a:r>
              <a:rPr lang="en-US" i="1" dirty="0">
                <a:latin typeface="Arial"/>
                <a:ea typeface="+mn-lt"/>
                <a:cs typeface="+mn-lt"/>
              </a:rPr>
              <a:t>(not in scope)</a:t>
            </a:r>
            <a:endParaRPr lang="en-US" dirty="0">
              <a:latin typeface="Arial"/>
              <a:cs typeface="Arial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i="1" dirty="0">
              <a:latin typeface="Arial"/>
              <a:ea typeface="+mn-lt"/>
              <a:cs typeface="+mn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latin typeface="Arial"/>
                <a:ea typeface="+mn-lt"/>
                <a:cs typeface="+mn-lt"/>
              </a:rPr>
              <a:t> Image Segmentation</a:t>
            </a:r>
            <a:r>
              <a:rPr lang="en-US" dirty="0">
                <a:latin typeface="Arial"/>
                <a:ea typeface="+mn-lt"/>
                <a:cs typeface="+mn-lt"/>
              </a:rPr>
              <a:t> for pixel-level detail </a:t>
            </a:r>
            <a:r>
              <a:rPr lang="en-US" i="1" dirty="0">
                <a:latin typeface="Arial"/>
                <a:ea typeface="+mn-lt"/>
                <a:cs typeface="+mn-lt"/>
              </a:rPr>
              <a:t>(also out of scope)</a:t>
            </a:r>
            <a:endParaRPr lang="en-US" dirty="0">
              <a:latin typeface="Arial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i="1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Solution uses </a:t>
            </a:r>
            <a:r>
              <a:rPr lang="en-US" b="1" dirty="0">
                <a:latin typeface="Arial"/>
                <a:ea typeface="+mn-lt"/>
                <a:cs typeface="+mn-lt"/>
              </a:rPr>
              <a:t>supervised deep learning</a:t>
            </a:r>
            <a:r>
              <a:rPr lang="en-US" dirty="0">
                <a:latin typeface="Arial"/>
                <a:ea typeface="+mn-lt"/>
                <a:cs typeface="+mn-lt"/>
              </a:rPr>
              <a:t> trained on labeled image patches.</a:t>
            </a:r>
            <a:endParaRPr lang="en-US" dirty="0">
              <a:latin typeface="Arial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322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F8993-1A90-DB8E-9A27-EEFB049DD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778D1-160C-B42D-203D-62075456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>
                <a:ea typeface="+mj-lt"/>
                <a:cs typeface="+mj-lt"/>
              </a:rPr>
              <a:t>Data Acquisition</a:t>
            </a:r>
            <a:endParaRPr lang="en-US" dirty="0">
              <a:latin typeface="Arial"/>
              <a:ea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DE814E-BAB1-8F1A-DA46-E290BD8D6E13}"/>
              </a:ext>
            </a:extLst>
          </p:cNvPr>
          <p:cNvSpPr txBox="1"/>
          <p:nvPr/>
        </p:nvSpPr>
        <p:spPr>
          <a:xfrm>
            <a:off x="1280160" y="2335170"/>
            <a:ext cx="9821955" cy="35035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/>
                <a:ea typeface="+mn-lt"/>
                <a:cs typeface="+mn-lt"/>
              </a:rPr>
              <a:t>Dataset used</a:t>
            </a:r>
            <a:r>
              <a:rPr lang="en-US" dirty="0">
                <a:latin typeface="Arial"/>
                <a:ea typeface="+mn-lt"/>
                <a:cs typeface="+mn-lt"/>
              </a:rPr>
              <a:t>: </a:t>
            </a:r>
            <a:r>
              <a:rPr lang="en-US" b="1" dirty="0">
                <a:latin typeface="Arial"/>
                <a:ea typeface="+mn-lt"/>
                <a:cs typeface="+mn-lt"/>
                <a:hlinkClick r:id="rId2"/>
              </a:rPr>
              <a:t>PKLot</a:t>
            </a:r>
            <a:r>
              <a:rPr lang="en-US" dirty="0">
                <a:latin typeface="Arial"/>
                <a:ea typeface="+mn-lt"/>
                <a:cs typeface="+mn-lt"/>
                <a:hlinkClick r:id="rId2"/>
              </a:rPr>
              <a:t> (Public Benchmark Dataset)</a:t>
            </a:r>
            <a:endParaRPr lang="en-US">
              <a:latin typeface="Arial"/>
              <a:ea typeface="+mn-lt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Total: </a:t>
            </a:r>
            <a:r>
              <a:rPr lang="en-US" b="1" dirty="0">
                <a:latin typeface="Arial"/>
                <a:ea typeface="+mn-lt"/>
                <a:cs typeface="+mn-lt"/>
              </a:rPr>
              <a:t>12,417 high-resolution images</a:t>
            </a:r>
            <a:r>
              <a:rPr lang="en-US" dirty="0">
                <a:latin typeface="Arial"/>
                <a:ea typeface="+mn-lt"/>
                <a:cs typeface="+mn-lt"/>
              </a:rPr>
              <a:t> (1280×720)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Captured via </a:t>
            </a:r>
            <a:r>
              <a:rPr lang="en-US" b="1" dirty="0">
                <a:latin typeface="Arial"/>
                <a:ea typeface="+mn-lt"/>
                <a:cs typeface="+mn-lt"/>
              </a:rPr>
              <a:t>HD-5000 webcams</a:t>
            </a:r>
            <a:r>
              <a:rPr lang="en-US" dirty="0">
                <a:latin typeface="Arial"/>
                <a:ea typeface="+mn-lt"/>
                <a:cs typeface="+mn-lt"/>
              </a:rPr>
              <a:t> from rooftops</a:t>
            </a:r>
            <a:endParaRPr lang="en-US" dirty="0">
              <a:latin typeface="Arial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Time span: </a:t>
            </a:r>
            <a:r>
              <a:rPr lang="en-US" b="1" dirty="0">
                <a:latin typeface="Arial"/>
                <a:ea typeface="+mn-lt"/>
                <a:cs typeface="+mn-lt"/>
              </a:rPr>
              <a:t>30+ days</a:t>
            </a:r>
            <a:r>
              <a:rPr lang="en-US" dirty="0">
                <a:latin typeface="Arial"/>
                <a:ea typeface="+mn-lt"/>
                <a:cs typeface="+mn-lt"/>
              </a:rPr>
              <a:t>, captured </a:t>
            </a:r>
            <a:r>
              <a:rPr lang="en-US" b="1" dirty="0">
                <a:latin typeface="Arial"/>
                <a:ea typeface="+mn-lt"/>
                <a:cs typeface="+mn-lt"/>
              </a:rPr>
              <a:t>every 5 minutes</a:t>
            </a:r>
            <a:endParaRPr lang="en-US" dirty="0">
              <a:latin typeface="Arial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Covered </a:t>
            </a:r>
            <a:r>
              <a:rPr lang="en-US" b="1" dirty="0">
                <a:latin typeface="Arial"/>
                <a:ea typeface="+mn-lt"/>
                <a:cs typeface="+mn-lt"/>
              </a:rPr>
              <a:t>3 locations</a:t>
            </a:r>
            <a:r>
              <a:rPr lang="en-US" dirty="0">
                <a:latin typeface="Arial"/>
                <a:ea typeface="+mn-lt"/>
                <a:cs typeface="+mn-lt"/>
              </a:rPr>
              <a:t>, multiple floors, and </a:t>
            </a:r>
            <a:r>
              <a:rPr lang="en-US" b="1" dirty="0">
                <a:latin typeface="Arial"/>
                <a:ea typeface="+mn-lt"/>
                <a:cs typeface="+mn-lt"/>
              </a:rPr>
              <a:t>varied weather</a:t>
            </a:r>
            <a:r>
              <a:rPr lang="en-US" dirty="0">
                <a:latin typeface="Arial"/>
                <a:ea typeface="+mn-lt"/>
                <a:cs typeface="+mn-lt"/>
              </a:rPr>
              <a:t> conditions</a:t>
            </a:r>
            <a:endParaRPr lang="en-US" dirty="0">
              <a:latin typeface="Arial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6296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5B09A-E0F8-8B5B-BD41-D75824C38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342CC-465D-E8A3-72A0-F789E9A5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>
                <a:ea typeface="+mj-lt"/>
                <a:cs typeface="+mj-lt"/>
              </a:rPr>
              <a:t>Data Understanding</a:t>
            </a:r>
            <a:endParaRPr lang="en-US" dirty="0">
              <a:latin typeface="Arial"/>
              <a:ea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51C8A-C04F-F5AD-A8A9-1F178F2168A1}"/>
              </a:ext>
            </a:extLst>
          </p:cNvPr>
          <p:cNvSpPr txBox="1"/>
          <p:nvPr/>
        </p:nvSpPr>
        <p:spPr>
          <a:xfrm>
            <a:off x="1280160" y="2335170"/>
            <a:ext cx="9821955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Images labeled using an </a:t>
            </a:r>
            <a:r>
              <a:rPr lang="en-US" b="1" dirty="0">
                <a:latin typeface="Arial"/>
                <a:ea typeface="+mn-lt"/>
                <a:cs typeface="+mn-lt"/>
              </a:rPr>
              <a:t>interactive annotation tool</a:t>
            </a:r>
            <a:endParaRPr lang="en-US" dirty="0">
              <a:latin typeface="Arial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Dataset includes:</a:t>
            </a:r>
            <a:endParaRPr lang="en-US" dirty="0">
              <a:latin typeface="Arial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Arial"/>
                <a:ea typeface="+mn-lt"/>
                <a:cs typeface="+mn-lt"/>
              </a:rPr>
              <a:t> Balanced classes: </a:t>
            </a:r>
            <a:r>
              <a:rPr lang="en-US" b="1" dirty="0">
                <a:latin typeface="Arial"/>
                <a:ea typeface="+mn-lt"/>
                <a:cs typeface="+mn-lt"/>
              </a:rPr>
              <a:t>~48.5% occupied</a:t>
            </a:r>
            <a:r>
              <a:rPr lang="en-US" dirty="0">
                <a:latin typeface="Arial"/>
                <a:ea typeface="+mn-lt"/>
                <a:cs typeface="+mn-lt"/>
              </a:rPr>
              <a:t>, </a:t>
            </a:r>
            <a:r>
              <a:rPr lang="en-US" b="1" dirty="0">
                <a:latin typeface="Arial"/>
                <a:ea typeface="+mn-lt"/>
                <a:cs typeface="+mn-lt"/>
              </a:rPr>
              <a:t>~51.5% vacant</a:t>
            </a:r>
            <a:endParaRPr lang="en-US" dirty="0">
              <a:latin typeface="Arial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latin typeface="Arial"/>
                <a:ea typeface="+mn-lt"/>
                <a:cs typeface="+mn-lt"/>
              </a:rPr>
              <a:t> Environmental diversity</a:t>
            </a:r>
            <a:r>
              <a:rPr lang="en-US" dirty="0">
                <a:latin typeface="Arial"/>
                <a:ea typeface="+mn-lt"/>
                <a:cs typeface="+mn-lt"/>
              </a:rPr>
              <a:t>: Sunny, rainy, overcast</a:t>
            </a:r>
            <a:endParaRPr lang="en-US" dirty="0">
              <a:latin typeface="Arial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latin typeface="Arial"/>
                <a:ea typeface="+mn-lt"/>
                <a:cs typeface="+mn-lt"/>
              </a:rPr>
              <a:t> Visual challenges</a:t>
            </a:r>
            <a:r>
              <a:rPr lang="en-US" dirty="0">
                <a:latin typeface="Arial"/>
                <a:ea typeface="+mn-lt"/>
                <a:cs typeface="+mn-lt"/>
              </a:rPr>
              <a:t>: Shadows, reflections, overexposed/rainy areas</a:t>
            </a:r>
            <a:endParaRPr lang="en-US" dirty="0">
              <a:latin typeface="Arial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Annotations provided in </a:t>
            </a:r>
            <a:r>
              <a:rPr lang="en-US" b="1" dirty="0">
                <a:latin typeface="Arial"/>
                <a:ea typeface="+mn-lt"/>
                <a:cs typeface="+mn-lt"/>
              </a:rPr>
              <a:t>XML format</a:t>
            </a:r>
            <a:r>
              <a:rPr lang="en-US" dirty="0">
                <a:latin typeface="Arial"/>
                <a:ea typeface="+mn-lt"/>
                <a:cs typeface="+mn-lt"/>
              </a:rPr>
              <a:t>:</a:t>
            </a:r>
            <a:endParaRPr lang="en-US" dirty="0">
              <a:latin typeface="Arial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latin typeface="Arial"/>
                <a:ea typeface="+mn-lt"/>
                <a:cs typeface="+mn-lt"/>
              </a:rPr>
              <a:t> Bounding boxes</a:t>
            </a:r>
            <a:r>
              <a:rPr lang="en-US" dirty="0">
                <a:latin typeface="Arial"/>
                <a:ea typeface="+mn-lt"/>
                <a:cs typeface="+mn-lt"/>
              </a:rPr>
              <a:t> + occupancy status</a:t>
            </a:r>
            <a:endParaRPr lang="en-US" dirty="0">
              <a:latin typeface="Arial"/>
              <a:cs typeface="Arial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Total: </a:t>
            </a:r>
            <a:r>
              <a:rPr lang="en-US" b="1" dirty="0">
                <a:latin typeface="Arial"/>
                <a:ea typeface="+mn-lt"/>
                <a:cs typeface="+mn-lt"/>
              </a:rPr>
              <a:t>~695,000 cropped parking slot images</a:t>
            </a:r>
            <a:r>
              <a:rPr lang="en-US" dirty="0">
                <a:latin typeface="Arial"/>
                <a:ea typeface="+mn-lt"/>
                <a:cs typeface="+mn-lt"/>
              </a:rPr>
              <a:t> with binary labels</a:t>
            </a:r>
            <a:endParaRPr lang="en-US" dirty="0">
              <a:latin typeface="Arial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Pre-processed using </a:t>
            </a:r>
            <a:r>
              <a:rPr lang="en-US" b="1" dirty="0">
                <a:latin typeface="Arial"/>
                <a:ea typeface="+mn-lt"/>
                <a:cs typeface="+mn-lt"/>
              </a:rPr>
              <a:t>skew correction</a:t>
            </a:r>
            <a:r>
              <a:rPr lang="en-US" dirty="0">
                <a:latin typeface="Arial"/>
                <a:ea typeface="+mn-lt"/>
                <a:cs typeface="+mn-lt"/>
              </a:rPr>
              <a:t> for consistency</a:t>
            </a:r>
            <a:endParaRPr lang="en-US" dirty="0">
              <a:latin typeface="Arial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Eliminates need for manual annotation or YOLO training</a:t>
            </a:r>
            <a:endParaRPr lang="en-US" dirty="0">
              <a:latin typeface="Arial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6075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65556-DFF2-2C8F-46D4-E767AF31D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E3D06-BFDE-23AF-D112-10F2648DC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577696"/>
          </a:xfrm>
          <a:noFill/>
        </p:spPr>
        <p:txBody>
          <a:bodyPr anchor="t" anchorCtr="0"/>
          <a:lstStyle/>
          <a:p>
            <a:pPr algn="ctr"/>
            <a:r>
              <a:rPr lang="en-US" dirty="0" err="1">
                <a:latin typeface="Arial"/>
                <a:ea typeface="+mj-lt"/>
              </a:rPr>
              <a:t>AlGorithm</a:t>
            </a:r>
            <a:r>
              <a:rPr lang="en-US" dirty="0">
                <a:latin typeface="Arial"/>
                <a:ea typeface="+mj-lt"/>
              </a:rPr>
              <a:t> Discussion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3D5616-B260-CA83-A6C6-A719EA31B206}"/>
              </a:ext>
            </a:extLst>
          </p:cNvPr>
          <p:cNvSpPr txBox="1"/>
          <p:nvPr/>
        </p:nvSpPr>
        <p:spPr>
          <a:xfrm>
            <a:off x="1185022" y="1674976"/>
            <a:ext cx="982195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For brevity, I am discussing only the finally selected transformer model for deployment.</a:t>
            </a:r>
            <a:endParaRPr lang="en-US" b="1" dirty="0">
              <a:latin typeface="Arial"/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A8062-E3DC-67C7-83DE-A7FD358BE497}"/>
              </a:ext>
            </a:extLst>
          </p:cNvPr>
          <p:cNvSpPr txBox="1"/>
          <p:nvPr/>
        </p:nvSpPr>
        <p:spPr>
          <a:xfrm>
            <a:off x="1185022" y="2160662"/>
            <a:ext cx="982195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Vision Transformer (ViT)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a deep learning architecture introduced by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Dosovitskiy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et al. in 2020</a:t>
            </a:r>
            <a:endParaRPr lang="en-US" b="1" dirty="0">
              <a:latin typeface="Arial"/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F3BE9-2843-12BE-2B9A-38EC70F4D712}"/>
              </a:ext>
            </a:extLst>
          </p:cNvPr>
          <p:cNvSpPr txBox="1"/>
          <p:nvPr/>
        </p:nvSpPr>
        <p:spPr>
          <a:xfrm>
            <a:off x="1185021" y="2881303"/>
            <a:ext cx="982195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rial"/>
                <a:ea typeface="+mn-lt"/>
                <a:cs typeface="+mn-lt"/>
              </a:rPr>
              <a:t> It is based on transformer model architecture (developed for NLP)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86A26-73D0-91AF-DE3D-6BE6A5C9FFC9}"/>
              </a:ext>
            </a:extLst>
          </p:cNvPr>
          <p:cNvSpPr txBox="1"/>
          <p:nvPr/>
        </p:nvSpPr>
        <p:spPr>
          <a:xfrm>
            <a:off x="1175051" y="3425442"/>
            <a:ext cx="982195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ViTs treat images as a sequence of patches and process them using global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self-attention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mechanisms</a:t>
            </a:r>
            <a:endParaRPr lang="en-US" b="1" dirty="0">
              <a:latin typeface="Arial"/>
              <a:ea typeface="+mn-lt"/>
              <a:cs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061B4D-1D30-3070-01D5-5C4CAFEFAA05}"/>
              </a:ext>
            </a:extLst>
          </p:cNvPr>
          <p:cNvSpPr txBox="1"/>
          <p:nvPr/>
        </p:nvSpPr>
        <p:spPr>
          <a:xfrm>
            <a:off x="1280159" y="4071773"/>
            <a:ext cx="982195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It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demonstrates that a pure transformer applied directly to sequences of image patches can work exceptionally well on image classification tasks (does not process local spatial neighborhoods  using convolutions like CNN</a:t>
            </a:r>
            <a:endParaRPr lang="en-US" b="1" dirty="0">
              <a:latin typeface="Arial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36999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3A48D-FB8F-BF90-1D07-17776630F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D6B57-F900-A824-2086-3289906F2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577696"/>
          </a:xfrm>
          <a:noFill/>
        </p:spPr>
        <p:txBody>
          <a:bodyPr anchor="t" anchorCtr="0"/>
          <a:lstStyle/>
          <a:p>
            <a:pPr algn="ctr"/>
            <a:r>
              <a:rPr lang="en-US" dirty="0">
                <a:latin typeface="Arial"/>
                <a:ea typeface="+mj-lt"/>
              </a:rPr>
              <a:t> Core architecture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7E30C00-0253-08EA-D3B1-98820C6671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1" b="2862"/>
          <a:stretch/>
        </p:blipFill>
        <p:spPr bwMode="auto">
          <a:xfrm>
            <a:off x="4486542" y="1674977"/>
            <a:ext cx="7314062" cy="295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54A796-2AE9-9247-2685-56E715263866}"/>
              </a:ext>
            </a:extLst>
          </p:cNvPr>
          <p:cNvSpPr txBox="1"/>
          <p:nvPr/>
        </p:nvSpPr>
        <p:spPr>
          <a:xfrm>
            <a:off x="878506" y="1582643"/>
            <a:ext cx="982195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+mn-lt"/>
                <a:cs typeface="+mn-lt"/>
              </a:rPr>
              <a:t>Core Architecture:</a:t>
            </a:r>
            <a:endParaRPr lang="en-US" b="1" dirty="0">
              <a:latin typeface="Arial"/>
              <a:ea typeface="+mn-lt"/>
              <a:cs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9C57CC-7D2A-1EDD-B5B4-ACE08942A933}"/>
              </a:ext>
            </a:extLst>
          </p:cNvPr>
          <p:cNvSpPr txBox="1"/>
          <p:nvPr/>
        </p:nvSpPr>
        <p:spPr>
          <a:xfrm>
            <a:off x="523854" y="2163907"/>
            <a:ext cx="3830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(a) Image to Patch Embedding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2FE3BD-20A2-DF2F-189F-2AD3575A8AE2}"/>
              </a:ext>
            </a:extLst>
          </p:cNvPr>
          <p:cNvSpPr txBox="1"/>
          <p:nvPr/>
        </p:nvSpPr>
        <p:spPr>
          <a:xfrm>
            <a:off x="523854" y="2657794"/>
            <a:ext cx="3830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(b)  Positional Embeddings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09419E-E3BF-74A7-4033-B9F567177EE5}"/>
              </a:ext>
            </a:extLst>
          </p:cNvPr>
          <p:cNvSpPr txBox="1"/>
          <p:nvPr/>
        </p:nvSpPr>
        <p:spPr>
          <a:xfrm>
            <a:off x="523854" y="3214697"/>
            <a:ext cx="3830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(c) Transformer Encoder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851100-0874-3206-6A31-EFB2B4AC3B39}"/>
              </a:ext>
            </a:extLst>
          </p:cNvPr>
          <p:cNvSpPr txBox="1"/>
          <p:nvPr/>
        </p:nvSpPr>
        <p:spPr>
          <a:xfrm>
            <a:off x="523853" y="3890785"/>
            <a:ext cx="3830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(d)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Classification Head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526B1E-9FBE-D417-AE33-4F1519A52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19" y="4631821"/>
            <a:ext cx="11012970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93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F7058-AE37-4896-30B4-1168634C4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8B70-4F30-09B2-6C57-4C05DFCA0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698" y="1090870"/>
            <a:ext cx="9821955" cy="577696"/>
          </a:xfrm>
          <a:noFill/>
        </p:spPr>
        <p:txBody>
          <a:bodyPr anchor="t" anchorCtr="0"/>
          <a:lstStyle/>
          <a:p>
            <a:pPr algn="ctr"/>
            <a:r>
              <a:rPr lang="en-US" dirty="0">
                <a:latin typeface="Arial"/>
                <a:ea typeface="+mj-lt"/>
              </a:rPr>
              <a:t> </a:t>
            </a:r>
            <a:r>
              <a:rPr lang="en-US" sz="2400" dirty="0">
                <a:latin typeface="Arial"/>
                <a:ea typeface="+mj-lt"/>
              </a:rPr>
              <a:t>Feature engineering</a:t>
            </a:r>
            <a:endParaRPr lang="en-US" dirty="0">
              <a:latin typeface="Arial"/>
              <a:ea typeface="+mj-lt"/>
            </a:endParaRPr>
          </a:p>
        </p:txBody>
      </p:sp>
      <p:pic>
        <p:nvPicPr>
          <p:cNvPr id="3" name="Picture 2" descr="A diagram of a model&#10;&#10;AI-generated content may be incorrect.">
            <a:extLst>
              <a:ext uri="{FF2B5EF4-FFF2-40B4-BE49-F238E27FC236}">
                <a16:creationId xmlns:a16="http://schemas.microsoft.com/office/drawing/2014/main" id="{0F70AC10-B602-C5B3-B88E-AB0C98F1A2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25" b="7383"/>
          <a:stretch/>
        </p:blipFill>
        <p:spPr>
          <a:xfrm>
            <a:off x="732582" y="1584201"/>
            <a:ext cx="6129691" cy="33381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891DF5-AB05-FCD2-ADD8-E9310A1B3DD0}"/>
              </a:ext>
            </a:extLst>
          </p:cNvPr>
          <p:cNvSpPr txBox="1"/>
          <p:nvPr/>
        </p:nvSpPr>
        <p:spPr>
          <a:xfrm>
            <a:off x="7455701" y="1755118"/>
            <a:ext cx="2873523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1200"/>
              </a:spcBef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Image Resizing 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rtl="0" fontAlgn="base">
              <a:spcBef>
                <a:spcPts val="1200"/>
              </a:spcBef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Normalization 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rtl="0" fontAlgn="base">
              <a:spcBef>
                <a:spcPts val="1200"/>
              </a:spcBef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Augmentation: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rtl="0" fontAlgn="base">
              <a:spcBef>
                <a:spcPts val="1200"/>
              </a:spcBef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Label Encoding: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rtl="0" fontAlgn="base">
              <a:spcBef>
                <a:spcPts val="1200"/>
              </a:spcBef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Dropout: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rtl="0" fontAlgn="base">
              <a:spcBef>
                <a:spcPts val="1200"/>
              </a:spcBef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Early Stopping: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rtl="0" fontAlgn="base">
              <a:spcBef>
                <a:spcPts val="1200"/>
              </a:spcBef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Input Format: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036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90A5E-0ECF-E56F-12B9-4154DD089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561FC-8E55-5DFE-F43E-3F42669AD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698" y="1090870"/>
            <a:ext cx="9821955" cy="577696"/>
          </a:xfrm>
          <a:noFill/>
        </p:spPr>
        <p:txBody>
          <a:bodyPr anchor="t" anchorCtr="0"/>
          <a:lstStyle/>
          <a:p>
            <a:pPr algn="ctr"/>
            <a:r>
              <a:rPr lang="en-US" dirty="0">
                <a:latin typeface="Arial"/>
                <a:ea typeface="+mj-lt"/>
              </a:rPr>
              <a:t> </a:t>
            </a:r>
            <a:r>
              <a:rPr lang="en-US" sz="2400" dirty="0">
                <a:latin typeface="Arial"/>
                <a:ea typeface="+mj-lt"/>
              </a:rPr>
              <a:t>model training</a:t>
            </a:r>
            <a:endParaRPr lang="en-US" dirty="0">
              <a:latin typeface="Arial"/>
              <a:ea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9E85A-FE3F-3948-92ED-EC8E8EFBB50C}"/>
              </a:ext>
            </a:extLst>
          </p:cNvPr>
          <p:cNvSpPr txBox="1"/>
          <p:nvPr/>
        </p:nvSpPr>
        <p:spPr>
          <a:xfrm>
            <a:off x="4106123" y="1668566"/>
            <a:ext cx="7387970" cy="3575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Highlights of Model Training Across Experiments</a:t>
            </a:r>
            <a:endParaRPr lang="en-US" b="0" dirty="0">
              <a:effectLst/>
            </a:endParaRPr>
          </a:p>
          <a:p>
            <a:pPr rtl="0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Models improved steadily, with no signs of overfitting—validation accuracy stayed high.</a:t>
            </a:r>
          </a:p>
          <a:p>
            <a:pPr rtl="0" fontAlgn="base">
              <a:spcBef>
                <a:spcPts val="1200"/>
              </a:spcBef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 augmentation, dropout, and learning rate scheduling enhanced generalization.</a:t>
            </a:r>
          </a:p>
          <a:p>
            <a:pPr rtl="0" fontAlgn="base"/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Early stopping was used to restore the best model weights.</a:t>
            </a:r>
          </a:p>
          <a:p>
            <a:pPr rtl="0" fontAlgn="base"/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Vision Transformer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had the best performance, peaking at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99.88% accuracy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with a validation loss of </a:t>
            </a: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0.0072.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0C7B3D-7681-BBF3-CBB5-292614264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192" y="1668566"/>
            <a:ext cx="2886405" cy="22778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1D1DD5-8639-2799-E61E-0675D161D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46" y="4050493"/>
            <a:ext cx="2962696" cy="227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229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C82A0-FC77-440D-00F5-334D6E1B8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A082A-373D-9313-826C-551FB8740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577696"/>
          </a:xfrm>
          <a:noFill/>
        </p:spPr>
        <p:txBody>
          <a:bodyPr anchor="t" anchorCtr="0"/>
          <a:lstStyle/>
          <a:p>
            <a:pPr algn="ctr"/>
            <a:r>
              <a:rPr lang="en-US" dirty="0">
                <a:latin typeface="Arial"/>
                <a:ea typeface="+mj-lt"/>
              </a:rPr>
              <a:t>Strengths and weaknesses of vIT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EFE713-AA39-F79E-9594-425A5B9D2961}"/>
              </a:ext>
            </a:extLst>
          </p:cNvPr>
          <p:cNvSpPr txBox="1"/>
          <p:nvPr/>
        </p:nvSpPr>
        <p:spPr>
          <a:xfrm>
            <a:off x="647344" y="1674976"/>
            <a:ext cx="41553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Strengths of ViT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Global context modeling</a:t>
            </a:r>
            <a:r>
              <a:rPr lang="en-US" dirty="0"/>
              <a:t>: Self-attention allows ViTs to consider long-range dependencies without inductive biases like locality.</a:t>
            </a:r>
          </a:p>
          <a:p>
            <a:pPr algn="just"/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High accuracy on large datasets</a:t>
            </a:r>
            <a:r>
              <a:rPr lang="en-US" dirty="0"/>
              <a:t>: With sufficient data and compute, ViTs outperform CNNs on large-scale image recognition tasks.</a:t>
            </a:r>
          </a:p>
          <a:p>
            <a:pPr algn="just"/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Flexibility</a:t>
            </a:r>
            <a:r>
              <a:rPr lang="en-US" dirty="0"/>
              <a:t>: Can generalize to multi-modal data and integrate with text or language inputs in vision-language tasks.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660CA9-F2B8-16D9-A6DF-17453C3E31B0}"/>
              </a:ext>
            </a:extLst>
          </p:cNvPr>
          <p:cNvSpPr txBox="1"/>
          <p:nvPr/>
        </p:nvSpPr>
        <p:spPr>
          <a:xfrm>
            <a:off x="5648770" y="1674976"/>
            <a:ext cx="546759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Data-hungry</a:t>
            </a:r>
            <a:r>
              <a:rPr lang="en-US" dirty="0"/>
              <a:t>: ViTs require much larger datasets than CNNs to achieve comparable performance when trained from scratch.</a:t>
            </a:r>
          </a:p>
          <a:p>
            <a:endParaRPr lang="en-US" dirty="0"/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Compute-intensive</a:t>
            </a:r>
            <a:r>
              <a:rPr lang="en-US" dirty="0"/>
              <a:t>: Transformers are slower and more memory-heavy due to quadratic complexity of self-attention.</a:t>
            </a:r>
          </a:p>
          <a:p>
            <a:endParaRPr lang="en-US" dirty="0"/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 built-in spatial hierarchy</a:t>
            </a:r>
            <a:r>
              <a:rPr lang="en-US" dirty="0"/>
              <a:t>: Unlike CNNs, ViTs don’t inherently learn low-level to high-level features unless explicitly augmented.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900A3A-6B36-962A-C667-E3F511B0069F}"/>
              </a:ext>
            </a:extLst>
          </p:cNvPr>
          <p:cNvCxnSpPr/>
          <p:nvPr/>
        </p:nvCxnSpPr>
        <p:spPr>
          <a:xfrm>
            <a:off x="5272755" y="1674976"/>
            <a:ext cx="0" cy="505056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494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  <a:noFill/>
        </p:spPr>
        <p:txBody>
          <a:bodyPr anchor="t" anchorCtr="0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Evaluation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C5C08B-1675-677C-B5CD-3FE3C7551C58}"/>
              </a:ext>
            </a:extLst>
          </p:cNvPr>
          <p:cNvSpPr txBox="1"/>
          <p:nvPr/>
        </p:nvSpPr>
        <p:spPr>
          <a:xfrm>
            <a:off x="1280160" y="2133601"/>
            <a:ext cx="7182522" cy="2776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evaluated all our four models based on the following metrics: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Precision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Recall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F1 Score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AUC-ROC</a:t>
            </a:r>
          </a:p>
        </p:txBody>
      </p:sp>
    </p:spTree>
    <p:extLst>
      <p:ext uri="{BB962C8B-B14F-4D97-AF65-F5344CB8AC3E}">
        <p14:creationId xmlns:p14="http://schemas.microsoft.com/office/powerpoint/2010/main" val="4170524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  <a:noFill/>
        </p:spPr>
        <p:txBody>
          <a:bodyPr anchor="t" anchorCtr="0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Validation Set metrics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A6FF97-F117-FF42-3AF3-911649517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1794622"/>
            <a:ext cx="75247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21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  <a:noFill/>
        </p:spPr>
        <p:txBody>
          <a:bodyPr anchor="t" anchorCtr="0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Test Set metrics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EC12E5-483D-A291-855A-0FF413D5B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385" y="1751704"/>
            <a:ext cx="75247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34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  <a:noFill/>
        </p:spPr>
        <p:txBody>
          <a:bodyPr anchor="t" anchorCtr="0"/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Auc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-roc overview</a:t>
            </a:r>
          </a:p>
        </p:txBody>
      </p:sp>
      <p:graphicFrame>
        <p:nvGraphicFramePr>
          <p:cNvPr id="3" name="Table Placeholder 3">
            <a:extLst>
              <a:ext uri="{FF2B5EF4-FFF2-40B4-BE49-F238E27FC236}">
                <a16:creationId xmlns:a16="http://schemas.microsoft.com/office/drawing/2014/main" id="{DA06A255-F63A-BC8F-617B-D9843FB5AD78}"/>
              </a:ext>
            </a:extLst>
          </p:cNvPr>
          <p:cNvGraphicFramePr>
            <a:graphicFrameLocks noGrp="1"/>
          </p:cNvGraphicFramePr>
          <p:nvPr>
            <p:ph type="tbl" sz="quarter" idx="13"/>
          </p:nvPr>
        </p:nvGraphicFramePr>
        <p:xfrm>
          <a:off x="1280160" y="2118100"/>
          <a:ext cx="7836946" cy="307069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861534">
                  <a:extLst>
                    <a:ext uri="{9D8B030D-6E8A-4147-A177-3AD203B41FA5}">
                      <a16:colId xmlns:a16="http://schemas.microsoft.com/office/drawing/2014/main" val="3909542061"/>
                    </a:ext>
                  </a:extLst>
                </a:gridCol>
                <a:gridCol w="2384612">
                  <a:extLst>
                    <a:ext uri="{9D8B030D-6E8A-4147-A177-3AD203B41FA5}">
                      <a16:colId xmlns:a16="http://schemas.microsoft.com/office/drawing/2014/main" val="385653242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438228390"/>
                    </a:ext>
                  </a:extLst>
                </a:gridCol>
              </a:tblGrid>
              <a:tr h="59702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AUC-ROC (Validation)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AUC-ROC (Test)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01482"/>
                  </a:ext>
                </a:extLst>
              </a:tr>
              <a:tr h="59702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CNN from Scratch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0.9438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0.9494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753144"/>
                  </a:ext>
                </a:extLst>
              </a:tr>
              <a:tr h="6182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ResNet50 (TensorFlow)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0.9695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96092"/>
                  </a:ext>
                </a:extLst>
              </a:tr>
              <a:tr h="59702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ResNet50 (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PyTorch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514058"/>
                  </a:ext>
                </a:extLst>
              </a:tr>
              <a:tr h="6182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Vision Transformer (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ViT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206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847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  <a:noFill/>
        </p:spPr>
        <p:txBody>
          <a:bodyPr anchor="t" anchorCtr="0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Performance summary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3D656E99-B779-DE99-D5CB-E0B0F8C3584C}"/>
              </a:ext>
            </a:extLst>
          </p:cNvPr>
          <p:cNvGraphicFramePr>
            <a:graphicFrameLocks noGrp="1"/>
          </p:cNvGraphicFramePr>
          <p:nvPr>
            <p:ph type="tbl" sz="quarter" idx="13"/>
          </p:nvPr>
        </p:nvGraphicFramePr>
        <p:xfrm>
          <a:off x="1280160" y="2118100"/>
          <a:ext cx="9601200" cy="307124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390954206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3856532422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3438228390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3737151041"/>
                    </a:ext>
                  </a:extLst>
                </a:gridCol>
              </a:tblGrid>
              <a:tr h="59702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F1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AUC-ROC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Threshold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01482"/>
                  </a:ext>
                </a:extLst>
              </a:tr>
              <a:tr h="59702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CNN from Scratch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0.9438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753144"/>
                  </a:ext>
                </a:extLst>
              </a:tr>
              <a:tr h="6182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ResNet50 (TensorFlow)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0.9695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96092"/>
                  </a:ext>
                </a:extLst>
              </a:tr>
              <a:tr h="59702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ResNet50 (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PyTorch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514058"/>
                  </a:ext>
                </a:extLst>
              </a:tr>
              <a:tr h="6182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Vision Transformer (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ViT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2060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793A4F1-1AF7-A7C5-CE20-31E41A0168C2}"/>
              </a:ext>
            </a:extLst>
          </p:cNvPr>
          <p:cNvSpPr txBox="1"/>
          <p:nvPr/>
        </p:nvSpPr>
        <p:spPr>
          <a:xfrm>
            <a:off x="1280160" y="5387789"/>
            <a:ext cx="8441350" cy="872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models showed strong training behavior; no signs of overfitting.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selected for deployment due to high accuracy, interpretability, and stability.</a:t>
            </a: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5B7E9A-5EA4-BFD0-CDF0-87F892EEC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260" y="2011680"/>
            <a:ext cx="6305270" cy="444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596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Future Scope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83E7002-662C-4041-E634-DE36180F0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955140"/>
              </p:ext>
            </p:extLst>
          </p:nvPr>
        </p:nvGraphicFramePr>
        <p:xfrm>
          <a:off x="1298089" y="2764103"/>
          <a:ext cx="9692640" cy="304476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874745">
                  <a:extLst>
                    <a:ext uri="{9D8B030D-6E8A-4147-A177-3AD203B41FA5}">
                      <a16:colId xmlns:a16="http://schemas.microsoft.com/office/drawing/2014/main" val="4225896447"/>
                    </a:ext>
                  </a:extLst>
                </a:gridCol>
                <a:gridCol w="6817895">
                  <a:extLst>
                    <a:ext uri="{9D8B030D-6E8A-4147-A177-3AD203B41FA5}">
                      <a16:colId xmlns:a16="http://schemas.microsoft.com/office/drawing/2014/main" val="87743218"/>
                    </a:ext>
                  </a:extLst>
                </a:gridCol>
              </a:tblGrid>
              <a:tr h="60117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Future Direction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798289"/>
                  </a:ext>
                </a:extLst>
              </a:tr>
              <a:tr h="60117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End-to-End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</a:t>
                      </a: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YOLO/SSD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detect &amp; classify in raw parking lot images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1211589"/>
                  </a:ext>
                </a:extLst>
              </a:tr>
              <a:tr h="60117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Real-Time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Extend to </a:t>
                      </a: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video feed analysis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live parking status updates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065496"/>
                  </a:ext>
                </a:extLst>
              </a:tr>
              <a:tr h="60117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Robustness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Train with data in </a:t>
                      </a: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night, fog, snow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motion blur,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879920"/>
                  </a:ext>
                </a:extLst>
              </a:tr>
              <a:tr h="60117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Deploy on </a:t>
                      </a: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Jetson Nano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Raspberry Pi</a:t>
                      </a: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using quantization/pruning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47521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1399934-A5F0-7B63-3AC6-2E1003250089}"/>
              </a:ext>
            </a:extLst>
          </p:cNvPr>
          <p:cNvSpPr txBox="1"/>
          <p:nvPr/>
        </p:nvSpPr>
        <p:spPr>
          <a:xfrm>
            <a:off x="1208442" y="2011680"/>
            <a:ext cx="4090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Technical Enhancements</a:t>
            </a:r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Future Scope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83E7002-662C-4041-E634-DE36180F0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236920"/>
              </p:ext>
            </p:extLst>
          </p:nvPr>
        </p:nvGraphicFramePr>
        <p:xfrm>
          <a:off x="1280160" y="2757827"/>
          <a:ext cx="9692640" cy="31167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874745">
                  <a:extLst>
                    <a:ext uri="{9D8B030D-6E8A-4147-A177-3AD203B41FA5}">
                      <a16:colId xmlns:a16="http://schemas.microsoft.com/office/drawing/2014/main" val="4225896447"/>
                    </a:ext>
                  </a:extLst>
                </a:gridCol>
                <a:gridCol w="6817895">
                  <a:extLst>
                    <a:ext uri="{9D8B030D-6E8A-4147-A177-3AD203B41FA5}">
                      <a16:colId xmlns:a16="http://schemas.microsoft.com/office/drawing/2014/main" val="87743218"/>
                    </a:ext>
                  </a:extLst>
                </a:gridCol>
              </a:tblGrid>
              <a:tr h="623348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Future Direction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798289"/>
                  </a:ext>
                </a:extLst>
              </a:tr>
              <a:tr h="62334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Mobile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Live slot status, navigation, and reservations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1211589"/>
                  </a:ext>
                </a:extLst>
              </a:tr>
              <a:tr h="62334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Explainability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</a:t>
                      </a: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Grad-CAM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or attention maps for ViT decision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065496"/>
                  </a:ext>
                </a:extLst>
              </a:tr>
              <a:tr h="62334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Smart City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Connect to municipal </a:t>
                      </a: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dashboards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</a:t>
                      </a: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traffic systems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879920"/>
                  </a:ext>
                </a:extLst>
              </a:tr>
              <a:tr h="623348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tools like </a:t>
                      </a:r>
                      <a:r>
                        <a:rPr lang="en-US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MLFlow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Airflow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detect drift and retrain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47521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C7DCBB4-BE73-3699-2BC8-4BFCEA1833B7}"/>
              </a:ext>
            </a:extLst>
          </p:cNvPr>
          <p:cNvSpPr txBox="1"/>
          <p:nvPr/>
        </p:nvSpPr>
        <p:spPr>
          <a:xfrm>
            <a:off x="1172584" y="2024231"/>
            <a:ext cx="40907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User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&amp; Integration</a:t>
            </a:r>
          </a:p>
        </p:txBody>
      </p:sp>
    </p:spTree>
    <p:extLst>
      <p:ext uri="{BB962C8B-B14F-4D97-AF65-F5344CB8AC3E}">
        <p14:creationId xmlns:p14="http://schemas.microsoft.com/office/powerpoint/2010/main" val="1145691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20C302-E662-533F-9E32-6B7505DFB993}"/>
              </a:ext>
            </a:extLst>
          </p:cNvPr>
          <p:cNvSpPr txBox="1"/>
          <p:nvPr/>
        </p:nvSpPr>
        <p:spPr>
          <a:xfrm>
            <a:off x="1280160" y="1886174"/>
            <a:ext cx="9821955" cy="4438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Explored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 deep learning models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detecting empty vs. occupied parking spaces using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PKLot-v2 640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dataset.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Models compared: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CNN from scratch (TensorFlow): Custom-built CNN without transfer learning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ResNet50 + Custom Classifier (TensorFlow)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ResNet50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Vision Transformer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Built 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Gradio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-based Web UI for demo and local deployment.</a:t>
            </a:r>
          </a:p>
        </p:txBody>
      </p:sp>
    </p:spTree>
    <p:extLst>
      <p:ext uri="{BB962C8B-B14F-4D97-AF65-F5344CB8AC3E}">
        <p14:creationId xmlns:p14="http://schemas.microsoft.com/office/powerpoint/2010/main" val="1145461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7712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Anusha Bandaru| Rakesh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Bhatija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Tejas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Desai</a:t>
            </a:r>
          </a:p>
        </p:txBody>
      </p:sp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{E6E2225F-0AD3-4928-ABF1-38FF5E062EC5}tf67061901_win32</Template>
  <TotalTime>499</TotalTime>
  <Words>985</Words>
  <Application>Microsoft Office PowerPoint</Application>
  <PresentationFormat>Widescreen</PresentationFormat>
  <Paragraphs>182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Courier New</vt:lpstr>
      <vt:lpstr>Daytona Condensed Light</vt:lpstr>
      <vt:lpstr>Posterama</vt:lpstr>
      <vt:lpstr>Custom</vt:lpstr>
      <vt:lpstr>Smart Parking:  Parking Space Detection Using Computer Vision</vt:lpstr>
      <vt:lpstr>PowerPoint Presentation</vt:lpstr>
      <vt:lpstr>Problem Identification</vt:lpstr>
      <vt:lpstr>Translating the Problem into a Data Science Challenge</vt:lpstr>
      <vt:lpstr>Data Acquisition</vt:lpstr>
      <vt:lpstr>Data Understanding</vt:lpstr>
      <vt:lpstr>AlGorithm Discussion</vt:lpstr>
      <vt:lpstr> Core architecture</vt:lpstr>
      <vt:lpstr> Feature engineering</vt:lpstr>
      <vt:lpstr> model training</vt:lpstr>
      <vt:lpstr>Strengths and weaknesses of vIT</vt:lpstr>
      <vt:lpstr>Evaluation metrics</vt:lpstr>
      <vt:lpstr>Validation Set metrics</vt:lpstr>
      <vt:lpstr>Test Set metrics</vt:lpstr>
      <vt:lpstr>Auc-roc overview</vt:lpstr>
      <vt:lpstr>Performance summary</vt:lpstr>
      <vt:lpstr>limitations</vt:lpstr>
      <vt:lpstr>Future Scope</vt:lpstr>
      <vt:lpstr>Future Scope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 Bandaru</dc:creator>
  <cp:lastModifiedBy>Subha Bandaru</cp:lastModifiedBy>
  <cp:revision>89</cp:revision>
  <dcterms:created xsi:type="dcterms:W3CDTF">2025-04-13T12:47:06Z</dcterms:created>
  <dcterms:modified xsi:type="dcterms:W3CDTF">2025-04-14T17:19:42Z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